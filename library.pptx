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62" r:id="rId3"/>
    <p:sldId id="257" r:id="rId4"/>
    <p:sldId id="258" r:id="rId5"/>
    <p:sldId id="259" r:id="rId6"/>
    <p:sldId id="260" r:id="rId7"/>
    <p:sldId id="261"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2"/>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9" name="Group 18"/>
          <p:cNvGrpSpPr/>
          <p:nvPr/>
        </p:nvGrpSpPr>
        <p:grpSpPr>
          <a:xfrm>
            <a:off x="546100" y="-4763"/>
            <a:ext cx="5014912" cy="6862763"/>
            <a:chOff x="2928938" y="-4763"/>
            <a:chExt cx="5014912" cy="6862763"/>
          </a:xfrm>
        </p:grpSpPr>
        <p:sp>
          <p:nvSpPr>
            <p:cNvPr id="22" name="Freeform 6"/>
            <p:cNvSpPr/>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23" name="Freeform 7"/>
            <p:cNvSpPr/>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24" name="Freeform 9"/>
            <p:cNvSpPr/>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5" name="Freeform 10"/>
            <p:cNvSpPr/>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6" name="Freeform 11"/>
            <p:cNvSpPr/>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7" name="Freeform 12"/>
            <p:cNvSpPr/>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928401" y="1380068"/>
            <a:ext cx="8574622" cy="2616199"/>
          </a:xfrm>
        </p:spPr>
        <p:txBody>
          <a:bodyPr anchor="b">
            <a:normAutofit/>
          </a:bodyPr>
          <a:lstStyle>
            <a:lvl1pPr algn="r">
              <a:defRPr sz="6000">
                <a:effectLst/>
              </a:defRPr>
            </a:lvl1pPr>
          </a:lstStyle>
          <a:p>
            <a:r>
              <a:rPr lang="en-US"/>
              <a:t>Click to edit Master title style</a:t>
            </a:r>
            <a:endParaRPr lang="en-US" dirty="0"/>
          </a:p>
        </p:txBody>
      </p:sp>
      <p:sp>
        <p:nvSpPr>
          <p:cNvPr id="3" name="Subtitle 2"/>
          <p:cNvSpPr>
            <a:spLocks noGrp="1"/>
          </p:cNvSpPr>
          <p:nvPr>
            <p:ph type="subTitle" idx="1"/>
          </p:nvPr>
        </p:nvSpPr>
        <p:spPr>
          <a:xfrm>
            <a:off x="4515377" y="3996267"/>
            <a:ext cx="6987645" cy="1388534"/>
          </a:xfrm>
        </p:spPr>
        <p:txBody>
          <a:bodyPr anchor="t">
            <a:normAutofit/>
          </a:bodyPr>
          <a:lstStyle>
            <a:lvl1pPr marL="0" indent="0" algn="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a:xfrm>
            <a:off x="5332412" y="5883275"/>
            <a:ext cx="4324044" cy="365125"/>
          </a:xfrm>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40595470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951856" y="5867131"/>
            <a:ext cx="551167" cy="365125"/>
          </a:xfrm>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3351001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72279" y="2666999"/>
            <a:ext cx="8930747" cy="2110382"/>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72278" y="4777381"/>
            <a:ext cx="8930748"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588183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84311" y="685800"/>
            <a:ext cx="10018713"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84312" y="2666999"/>
            <a:ext cx="4895055" cy="3124201"/>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607967" y="2667000"/>
            <a:ext cx="4895056" cy="312420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5DE315-493C-48BA-86BC-BBA755315B6C}"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9850264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772179" y="2658533"/>
            <a:ext cx="4607188"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84311"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880487" y="2667000"/>
            <a:ext cx="4622537"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607967" y="3335337"/>
            <a:ext cx="4895056" cy="2455862"/>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5DE315-493C-48BA-86BC-BBA755315B6C}" type="datetimeFigureOut">
              <a:rPr lang="en-US" smtClean="0"/>
              <a:t>1/13/2025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1535109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5DE315-493C-48BA-86BC-BBA755315B6C}" type="datetimeFigureOut">
              <a:rPr lang="en-US" smtClean="0"/>
              <a:t>1/13/2025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13387996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5DE315-493C-48BA-86BC-BBA755315B6C}" type="datetimeFigureOut">
              <a:rPr lang="en-US" smtClean="0"/>
              <a:t>1/13/2025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883147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1600200"/>
            <a:ext cx="3549121"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262033" y="685799"/>
            <a:ext cx="6240990"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84312" y="2971800"/>
            <a:ext cx="3549121"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5DE315-493C-48BA-86BC-BBA755315B6C}"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3632038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2724" y="1752599"/>
            <a:ext cx="5426158"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94682" y="914400"/>
            <a:ext cx="3280974"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2724" y="3124199"/>
            <a:ext cx="5426158"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5DE315-493C-48BA-86BC-BBA755315B6C}"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2763882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1" y="4732865"/>
            <a:ext cx="1001871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386012" y="932112"/>
            <a:ext cx="8225944"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84311" y="5299603"/>
            <a:ext cx="1001871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C5DE315-493C-48BA-86BC-BBA755315B6C}" type="datetimeFigureOut">
              <a:rPr lang="en-US" smtClean="0"/>
              <a:t>1/13/2025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9016689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484312" y="685800"/>
            <a:ext cx="1001871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343400"/>
            <a:ext cx="10018713"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8702118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2436811" y="3428999"/>
            <a:ext cx="8532815"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484311" y="4343400"/>
            <a:ext cx="1001871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36386296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484313" y="3308581"/>
            <a:ext cx="1001870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484312" y="4777381"/>
            <a:ext cx="1001871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2692176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1598612" y="86302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10893425" y="2819399"/>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2208212" y="685800"/>
            <a:ext cx="8990012"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84313" y="3886200"/>
            <a:ext cx="1001871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2" y="4775200"/>
            <a:ext cx="1001871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5189342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484313" y="685800"/>
            <a:ext cx="10018712"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484312" y="3505200"/>
            <a:ext cx="10018713"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1484311" y="4343400"/>
            <a:ext cx="10018713"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12873069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6109678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732655" y="685800"/>
            <a:ext cx="1770369"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484312" y="685800"/>
            <a:ext cx="8019742" cy="51054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5DE315-493C-48BA-86BC-BBA755315B6C}" type="datetimeFigureOut">
              <a:rPr lang="en-US" smtClean="0"/>
              <a:t>1/13/2025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F9369CE-AA61-4893-95CC-5070A076FF30}" type="slidenum">
              <a:rPr lang="en-US" smtClean="0"/>
              <a:t>‹#›</a:t>
            </a:fld>
            <a:endParaRPr lang="en-US"/>
          </a:p>
        </p:txBody>
      </p:sp>
    </p:spTree>
    <p:extLst>
      <p:ext uri="{BB962C8B-B14F-4D97-AF65-F5344CB8AC3E}">
        <p14:creationId xmlns:p14="http://schemas.microsoft.com/office/powerpoint/2010/main" val="2378935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7" name="Group 6"/>
          <p:cNvGrpSpPr/>
          <p:nvPr/>
        </p:nvGrpSpPr>
        <p:grpSpPr>
          <a:xfrm>
            <a:off x="150812" y="0"/>
            <a:ext cx="2436813" cy="6858001"/>
            <a:chOff x="1320800" y="0"/>
            <a:chExt cx="2436813" cy="6858001"/>
          </a:xfrm>
        </p:grpSpPr>
        <p:sp>
          <p:nvSpPr>
            <p:cNvPr id="8" name="Freeform 6"/>
            <p:cNvSpPr/>
            <p:nvPr/>
          </p:nvSpPr>
          <p:spPr bwMode="auto">
            <a:xfrm>
              <a:off x="1627188" y="0"/>
              <a:ext cx="1122363" cy="5329238"/>
            </a:xfrm>
            <a:custGeom>
              <a:avLst/>
              <a:gdLst/>
              <a:ahLst/>
              <a:cxnLst/>
              <a:rect l="0" t="0" r="r" b="b"/>
              <a:pathLst>
                <a:path w="707" h="3357">
                  <a:moveTo>
                    <a:pt x="0" y="3330"/>
                  </a:moveTo>
                  <a:lnTo>
                    <a:pt x="156" y="3357"/>
                  </a:lnTo>
                  <a:lnTo>
                    <a:pt x="707" y="0"/>
                  </a:lnTo>
                  <a:lnTo>
                    <a:pt x="547" y="0"/>
                  </a:lnTo>
                  <a:lnTo>
                    <a:pt x="0" y="3330"/>
                  </a:lnTo>
                  <a:close/>
                </a:path>
              </a:pathLst>
            </a:custGeom>
            <a:solidFill>
              <a:schemeClr val="accent1"/>
            </a:solidFill>
            <a:ln>
              <a:noFill/>
            </a:ln>
          </p:spPr>
        </p:sp>
        <p:sp>
          <p:nvSpPr>
            <p:cNvPr id="9" name="Freeform 7"/>
            <p:cNvSpPr/>
            <p:nvPr/>
          </p:nvSpPr>
          <p:spPr bwMode="auto">
            <a:xfrm>
              <a:off x="1320800" y="0"/>
              <a:ext cx="1117600" cy="5276850"/>
            </a:xfrm>
            <a:custGeom>
              <a:avLst/>
              <a:gdLst/>
              <a:ahLst/>
              <a:cxnLst/>
              <a:rect l="0" t="0" r="r" b="b"/>
              <a:pathLst>
                <a:path w="704" h="3324">
                  <a:moveTo>
                    <a:pt x="704" y="0"/>
                  </a:moveTo>
                  <a:lnTo>
                    <a:pt x="545" y="0"/>
                  </a:lnTo>
                  <a:lnTo>
                    <a:pt x="0" y="3300"/>
                  </a:lnTo>
                  <a:lnTo>
                    <a:pt x="157" y="3324"/>
                  </a:lnTo>
                  <a:lnTo>
                    <a:pt x="704" y="0"/>
                  </a:lnTo>
                  <a:close/>
                </a:path>
              </a:pathLst>
            </a:custGeom>
            <a:solidFill>
              <a:schemeClr val="tx1">
                <a:lumMod val="65000"/>
                <a:lumOff val="35000"/>
              </a:schemeClr>
            </a:solidFill>
            <a:ln>
              <a:noFill/>
            </a:ln>
          </p:spPr>
        </p:sp>
        <p:sp>
          <p:nvSpPr>
            <p:cNvPr id="10" name="Freeform 8"/>
            <p:cNvSpPr/>
            <p:nvPr/>
          </p:nvSpPr>
          <p:spPr bwMode="auto">
            <a:xfrm>
              <a:off x="1320800" y="5238750"/>
              <a:ext cx="1228725" cy="1619250"/>
            </a:xfrm>
            <a:custGeom>
              <a:avLst/>
              <a:gdLst/>
              <a:ahLst/>
              <a:cxnLst/>
              <a:rect l="0" t="0" r="r" b="b"/>
              <a:pathLst>
                <a:path w="774" h="1020">
                  <a:moveTo>
                    <a:pt x="0" y="0"/>
                  </a:moveTo>
                  <a:lnTo>
                    <a:pt x="740" y="1020"/>
                  </a:lnTo>
                  <a:lnTo>
                    <a:pt x="774" y="1020"/>
                  </a:lnTo>
                  <a:lnTo>
                    <a:pt x="0" y="0"/>
                  </a:lnTo>
                  <a:close/>
                </a:path>
              </a:pathLst>
            </a:custGeom>
            <a:solidFill>
              <a:schemeClr val="tx1">
                <a:lumMod val="85000"/>
                <a:lumOff val="15000"/>
              </a:schemeClr>
            </a:solidFill>
            <a:ln>
              <a:noFill/>
            </a:ln>
          </p:spPr>
        </p:sp>
        <p:sp>
          <p:nvSpPr>
            <p:cNvPr id="11" name="Freeform 9"/>
            <p:cNvSpPr/>
            <p:nvPr/>
          </p:nvSpPr>
          <p:spPr bwMode="auto">
            <a:xfrm>
              <a:off x="1627188" y="5291138"/>
              <a:ext cx="1495425" cy="1566863"/>
            </a:xfrm>
            <a:custGeom>
              <a:avLst/>
              <a:gdLst/>
              <a:ahLst/>
              <a:cxnLst/>
              <a:rect l="0" t="0" r="r" b="b"/>
              <a:pathLst>
                <a:path w="942" h="987">
                  <a:moveTo>
                    <a:pt x="0" y="0"/>
                  </a:moveTo>
                  <a:lnTo>
                    <a:pt x="909" y="987"/>
                  </a:lnTo>
                  <a:lnTo>
                    <a:pt x="942" y="987"/>
                  </a:lnTo>
                  <a:lnTo>
                    <a:pt x="0" y="0"/>
                  </a:lnTo>
                  <a:close/>
                </a:path>
              </a:pathLst>
            </a:custGeom>
            <a:solidFill>
              <a:schemeClr val="accent1">
                <a:lumMod val="50000"/>
              </a:schemeClr>
            </a:solidFill>
            <a:ln>
              <a:noFill/>
            </a:ln>
          </p:spPr>
        </p:sp>
        <p:sp>
          <p:nvSpPr>
            <p:cNvPr id="12" name="Freeform 10"/>
            <p:cNvSpPr/>
            <p:nvPr/>
          </p:nvSpPr>
          <p:spPr bwMode="auto">
            <a:xfrm>
              <a:off x="1627188" y="5286375"/>
              <a:ext cx="2130425" cy="1571625"/>
            </a:xfrm>
            <a:custGeom>
              <a:avLst/>
              <a:gdLst/>
              <a:ahLst/>
              <a:cxnLst/>
              <a:rect l="0" t="0" r="r" b="b"/>
              <a:pathLst>
                <a:path w="1342" h="990">
                  <a:moveTo>
                    <a:pt x="0" y="3"/>
                  </a:moveTo>
                  <a:lnTo>
                    <a:pt x="942" y="990"/>
                  </a:lnTo>
                  <a:lnTo>
                    <a:pt x="1342" y="990"/>
                  </a:lnTo>
                  <a:lnTo>
                    <a:pt x="156" y="27"/>
                  </a:lnTo>
                  <a:lnTo>
                    <a:pt x="0" y="0"/>
                  </a:lnTo>
                  <a:lnTo>
                    <a:pt x="0" y="3"/>
                  </a:lnTo>
                  <a:close/>
                </a:path>
              </a:pathLst>
            </a:custGeom>
            <a:solidFill>
              <a:schemeClr val="accent1">
                <a:lumMod val="75000"/>
              </a:schemeClr>
            </a:solidFill>
            <a:ln>
              <a:noFill/>
            </a:ln>
          </p:spPr>
        </p:sp>
        <p:sp>
          <p:nvSpPr>
            <p:cNvPr id="13" name="Freeform 11"/>
            <p:cNvSpPr/>
            <p:nvPr/>
          </p:nvSpPr>
          <p:spPr bwMode="auto">
            <a:xfrm>
              <a:off x="1320800" y="5238750"/>
              <a:ext cx="1695450" cy="1619250"/>
            </a:xfrm>
            <a:custGeom>
              <a:avLst/>
              <a:gdLst/>
              <a:ahLst/>
              <a:cxnLst/>
              <a:rect l="0" t="0" r="r" b="b"/>
              <a:pathLst>
                <a:path w="1068" h="1020">
                  <a:moveTo>
                    <a:pt x="1068" y="1020"/>
                  </a:moveTo>
                  <a:lnTo>
                    <a:pt x="184" y="60"/>
                  </a:lnTo>
                  <a:lnTo>
                    <a:pt x="154" y="27"/>
                  </a:lnTo>
                  <a:lnTo>
                    <a:pt x="157" y="27"/>
                  </a:lnTo>
                  <a:lnTo>
                    <a:pt x="157" y="24"/>
                  </a:lnTo>
                  <a:lnTo>
                    <a:pt x="154" y="24"/>
                  </a:lnTo>
                  <a:lnTo>
                    <a:pt x="0" y="0"/>
                  </a:lnTo>
                  <a:lnTo>
                    <a:pt x="0" y="0"/>
                  </a:lnTo>
                  <a:lnTo>
                    <a:pt x="774" y="1020"/>
                  </a:lnTo>
                  <a:lnTo>
                    <a:pt x="1068" y="1020"/>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1484311" y="685800"/>
            <a:ext cx="10018713" cy="1752599"/>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484310" y="2666999"/>
            <a:ext cx="10018713" cy="3124201"/>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732656" y="5883275"/>
            <a:ext cx="1143000"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C5DE315-493C-48BA-86BC-BBA755315B6C}" type="datetimeFigureOut">
              <a:rPr lang="en-US" smtClean="0"/>
              <a:t>1/13/2025</a:t>
            </a:fld>
            <a:endParaRPr lang="en-US"/>
          </a:p>
        </p:txBody>
      </p:sp>
      <p:sp>
        <p:nvSpPr>
          <p:cNvPr id="5" name="Footer Placeholder 4"/>
          <p:cNvSpPr>
            <a:spLocks noGrp="1"/>
          </p:cNvSpPr>
          <p:nvPr>
            <p:ph type="ftr" sz="quarter" idx="3"/>
          </p:nvPr>
        </p:nvSpPr>
        <p:spPr>
          <a:xfrm>
            <a:off x="2572279" y="5883275"/>
            <a:ext cx="708417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951856" y="5883275"/>
            <a:ext cx="551167"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9F9369CE-AA61-4893-95CC-5070A076FF30}" type="slidenum">
              <a:rPr lang="en-US" smtClean="0"/>
              <a:t>‹#›</a:t>
            </a:fld>
            <a:endParaRPr lang="en-US"/>
          </a:p>
        </p:txBody>
      </p:sp>
    </p:spTree>
    <p:extLst>
      <p:ext uri="{BB962C8B-B14F-4D97-AF65-F5344CB8AC3E}">
        <p14:creationId xmlns:p14="http://schemas.microsoft.com/office/powerpoint/2010/main" val="1707262852"/>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A3C371-2940-3237-C21D-4EC43F63C7D2}"/>
              </a:ext>
            </a:extLst>
          </p:cNvPr>
          <p:cNvSpPr>
            <a:spLocks noGrp="1"/>
          </p:cNvSpPr>
          <p:nvPr>
            <p:ph type="ctrTitle"/>
          </p:nvPr>
        </p:nvSpPr>
        <p:spPr/>
        <p:txBody>
          <a:bodyPr/>
          <a:lstStyle/>
          <a:p>
            <a:r>
              <a:rPr lang="en-US" u="sng" dirty="0" err="1"/>
              <a:t>Exproling</a:t>
            </a:r>
            <a:r>
              <a:rPr lang="en-US" u="sng" dirty="0"/>
              <a:t> </a:t>
            </a:r>
            <a:r>
              <a:rPr lang="en-US" u="sng" dirty="0" err="1"/>
              <a:t>builtin</a:t>
            </a:r>
            <a:r>
              <a:rPr lang="en-US" u="sng" dirty="0"/>
              <a:t> libraries</a:t>
            </a:r>
          </a:p>
        </p:txBody>
      </p:sp>
      <p:sp>
        <p:nvSpPr>
          <p:cNvPr id="3" name="Subtitle 2">
            <a:extLst>
              <a:ext uri="{FF2B5EF4-FFF2-40B4-BE49-F238E27FC236}">
                <a16:creationId xmlns:a16="http://schemas.microsoft.com/office/drawing/2014/main" id="{61D73673-199E-CEAA-712C-69B655CBF747}"/>
              </a:ext>
            </a:extLst>
          </p:cNvPr>
          <p:cNvSpPr>
            <a:spLocks noGrp="1"/>
          </p:cNvSpPr>
          <p:nvPr>
            <p:ph type="subTitle" idx="1"/>
          </p:nvPr>
        </p:nvSpPr>
        <p:spPr>
          <a:xfrm>
            <a:off x="4515377" y="3996267"/>
            <a:ext cx="3126394" cy="1388534"/>
          </a:xfrm>
        </p:spPr>
        <p:txBody>
          <a:bodyPr/>
          <a:lstStyle/>
          <a:p>
            <a:r>
              <a:rPr lang="en-US" sz="4000" u="sng" dirty="0"/>
              <a:t>In Dart</a:t>
            </a:r>
            <a:r>
              <a:rPr lang="en-US" u="sng" dirty="0"/>
              <a:t>   </a:t>
            </a:r>
          </a:p>
        </p:txBody>
      </p:sp>
    </p:spTree>
    <p:extLst>
      <p:ext uri="{BB962C8B-B14F-4D97-AF65-F5344CB8AC3E}">
        <p14:creationId xmlns:p14="http://schemas.microsoft.com/office/powerpoint/2010/main" val="244040461"/>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E41AC-7D61-BD2B-5E59-13D2E37A5753}"/>
              </a:ext>
            </a:extLst>
          </p:cNvPr>
          <p:cNvSpPr>
            <a:spLocks noGrp="1"/>
          </p:cNvSpPr>
          <p:nvPr>
            <p:ph type="title"/>
          </p:nvPr>
        </p:nvSpPr>
        <p:spPr/>
        <p:txBody>
          <a:bodyPr/>
          <a:lstStyle/>
          <a:p>
            <a:r>
              <a:rPr lang="en-US" u="sng" dirty="0"/>
              <a:t>GROUP3</a:t>
            </a:r>
          </a:p>
        </p:txBody>
      </p:sp>
      <p:sp>
        <p:nvSpPr>
          <p:cNvPr id="3" name="Content Placeholder 2">
            <a:extLst>
              <a:ext uri="{FF2B5EF4-FFF2-40B4-BE49-F238E27FC236}">
                <a16:creationId xmlns:a16="http://schemas.microsoft.com/office/drawing/2014/main" id="{1CC1D23A-176C-E382-79EE-763196A69E1A}"/>
              </a:ext>
            </a:extLst>
          </p:cNvPr>
          <p:cNvSpPr>
            <a:spLocks noGrp="1"/>
          </p:cNvSpPr>
          <p:nvPr>
            <p:ph idx="1"/>
          </p:nvPr>
        </p:nvSpPr>
        <p:spPr/>
        <p:txBody>
          <a:bodyPr/>
          <a:lstStyle/>
          <a:p>
            <a:r>
              <a:rPr lang="en-US" dirty="0"/>
              <a:t>NAMES:MUTUMYINKA Julienne</a:t>
            </a:r>
          </a:p>
          <a:p>
            <a:r>
              <a:rPr lang="en-US" dirty="0"/>
              <a:t>                 NIYOMUKUNZI  Esther</a:t>
            </a:r>
          </a:p>
          <a:p>
            <a:r>
              <a:rPr lang="en-US" dirty="0"/>
              <a:t>                  ABAYISENGA     Anitha</a:t>
            </a:r>
          </a:p>
          <a:p>
            <a:r>
              <a:rPr lang="en-US" dirty="0"/>
              <a:t>                  NSABIYUMVA    Jerome</a:t>
            </a:r>
          </a:p>
        </p:txBody>
      </p:sp>
    </p:spTree>
    <p:extLst>
      <p:ext uri="{BB962C8B-B14F-4D97-AF65-F5344CB8AC3E}">
        <p14:creationId xmlns:p14="http://schemas.microsoft.com/office/powerpoint/2010/main" val="3204688216"/>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D0D252-3E3C-CBB2-E45E-236ACE3F5E4D}"/>
              </a:ext>
            </a:extLst>
          </p:cNvPr>
          <p:cNvSpPr>
            <a:spLocks noGrp="1"/>
          </p:cNvSpPr>
          <p:nvPr>
            <p:ph type="title"/>
          </p:nvPr>
        </p:nvSpPr>
        <p:spPr/>
        <p:txBody>
          <a:bodyPr/>
          <a:lstStyle/>
          <a:p>
            <a:r>
              <a:rPr lang="en-US" u="sng" dirty="0" err="1"/>
              <a:t>Exproling</a:t>
            </a:r>
            <a:r>
              <a:rPr lang="en-US" u="sng" dirty="0"/>
              <a:t> </a:t>
            </a:r>
            <a:r>
              <a:rPr lang="en-US" u="sng" dirty="0" err="1"/>
              <a:t>builtin</a:t>
            </a:r>
            <a:r>
              <a:rPr lang="en-US" u="sng" dirty="0"/>
              <a:t> libraries</a:t>
            </a:r>
            <a:br>
              <a:rPr lang="en-US" u="sng" dirty="0"/>
            </a:br>
            <a:r>
              <a:rPr lang="en-US" u="sng" dirty="0"/>
              <a:t>1</a:t>
            </a:r>
          </a:p>
        </p:txBody>
      </p:sp>
      <p:sp>
        <p:nvSpPr>
          <p:cNvPr id="3" name="Content Placeholder 2">
            <a:extLst>
              <a:ext uri="{FF2B5EF4-FFF2-40B4-BE49-F238E27FC236}">
                <a16:creationId xmlns:a16="http://schemas.microsoft.com/office/drawing/2014/main" id="{0EF0AEB0-9396-7142-C6CC-3565DFA63EE6}"/>
              </a:ext>
            </a:extLst>
          </p:cNvPr>
          <p:cNvSpPr>
            <a:spLocks noGrp="1"/>
          </p:cNvSpPr>
          <p:nvPr>
            <p:ph sz="half" idx="1"/>
          </p:nvPr>
        </p:nvSpPr>
        <p:spPr/>
        <p:txBody>
          <a:bodyPr/>
          <a:lstStyle/>
          <a:p>
            <a:r>
              <a:rPr lang="en-US" dirty="0"/>
              <a:t>The core library in Dart provides fundamental building blocks like data types, collections, and asynchronous features. It's automatically available in any Dart program, allowing you to create applications more easily without needing to manually import basic libraries. </a:t>
            </a:r>
          </a:p>
        </p:txBody>
      </p:sp>
      <p:sp>
        <p:nvSpPr>
          <p:cNvPr id="4" name="Content Placeholder 3">
            <a:extLst>
              <a:ext uri="{FF2B5EF4-FFF2-40B4-BE49-F238E27FC236}">
                <a16:creationId xmlns:a16="http://schemas.microsoft.com/office/drawing/2014/main" id="{0B87C9D5-6832-5F1E-487C-2771E3F76DD1}"/>
              </a:ext>
            </a:extLst>
          </p:cNvPr>
          <p:cNvSpPr>
            <a:spLocks noGrp="1"/>
          </p:cNvSpPr>
          <p:nvPr>
            <p:ph sz="half" idx="2"/>
          </p:nvPr>
        </p:nvSpPr>
        <p:spPr/>
        <p:txBody>
          <a:bodyPr/>
          <a:lstStyle/>
          <a:p>
            <a:r>
              <a:rPr lang="en-US" dirty="0"/>
              <a:t>It gives you essential classes and functions to handle things like strings, lists, maps, and more. Think of it as a collection of building blocks to help you write your code more efficiently, without having to create everything from scratch</a:t>
            </a:r>
          </a:p>
        </p:txBody>
      </p:sp>
    </p:spTree>
    <p:extLst>
      <p:ext uri="{BB962C8B-B14F-4D97-AF65-F5344CB8AC3E}">
        <p14:creationId xmlns:p14="http://schemas.microsoft.com/office/powerpoint/2010/main" val="658168964"/>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E74A-A547-22E7-C7F7-E4578BF8CD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03D256-9C92-D65D-FFA0-21E93C0818AF}"/>
              </a:ext>
            </a:extLst>
          </p:cNvPr>
          <p:cNvSpPr>
            <a:spLocks noGrp="1"/>
          </p:cNvSpPr>
          <p:nvPr>
            <p:ph type="title"/>
          </p:nvPr>
        </p:nvSpPr>
        <p:spPr/>
        <p:txBody>
          <a:bodyPr/>
          <a:lstStyle/>
          <a:p>
            <a:r>
              <a:rPr lang="en-US" u="sng" dirty="0"/>
              <a:t>2</a:t>
            </a:r>
          </a:p>
        </p:txBody>
      </p:sp>
      <p:sp>
        <p:nvSpPr>
          <p:cNvPr id="3" name="Content Placeholder 2">
            <a:extLst>
              <a:ext uri="{FF2B5EF4-FFF2-40B4-BE49-F238E27FC236}">
                <a16:creationId xmlns:a16="http://schemas.microsoft.com/office/drawing/2014/main" id="{9F74F13B-D630-FAFF-B9F8-2AD56FF74DF3}"/>
              </a:ext>
            </a:extLst>
          </p:cNvPr>
          <p:cNvSpPr>
            <a:spLocks noGrp="1"/>
          </p:cNvSpPr>
          <p:nvPr>
            <p:ph sz="half" idx="1"/>
          </p:nvPr>
        </p:nvSpPr>
        <p:spPr/>
        <p:txBody>
          <a:bodyPr/>
          <a:lstStyle/>
          <a:p>
            <a:pPr marL="0" indent="0">
              <a:buNone/>
            </a:pPr>
            <a:r>
              <a:rPr lang="en-US" dirty="0"/>
              <a:t>In Dart, async libraries help manage asynchronous programming, allowing your code to perform non-blocking operations such as fetching data from the internet, reading files, or handling timers</a:t>
            </a:r>
          </a:p>
        </p:txBody>
      </p:sp>
      <p:sp>
        <p:nvSpPr>
          <p:cNvPr id="4" name="Content Placeholder 3">
            <a:extLst>
              <a:ext uri="{FF2B5EF4-FFF2-40B4-BE49-F238E27FC236}">
                <a16:creationId xmlns:a16="http://schemas.microsoft.com/office/drawing/2014/main" id="{737A8A48-D9C7-915E-12DD-52DE71B1C6FD}"/>
              </a:ext>
            </a:extLst>
          </p:cNvPr>
          <p:cNvSpPr>
            <a:spLocks noGrp="1"/>
          </p:cNvSpPr>
          <p:nvPr>
            <p:ph sz="half" idx="2"/>
          </p:nvPr>
        </p:nvSpPr>
        <p:spPr/>
        <p:txBody>
          <a:bodyPr/>
          <a:lstStyle/>
          <a:p>
            <a:pPr marL="0" indent="0">
              <a:buNone/>
            </a:pPr>
            <a:r>
              <a:rPr lang="en-US" dirty="0"/>
              <a:t>if you want to fetch data from the internet, read a file, or wait for a timer, async libraries allow you to handle these tasks without making your entire application wait. This makes your app more responsive and efficient.</a:t>
            </a:r>
          </a:p>
        </p:txBody>
      </p:sp>
    </p:spTree>
    <p:extLst>
      <p:ext uri="{BB962C8B-B14F-4D97-AF65-F5344CB8AC3E}">
        <p14:creationId xmlns:p14="http://schemas.microsoft.com/office/powerpoint/2010/main" val="2655776762"/>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5AAC42-D547-30E5-84B5-8659270BA9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FD727B-89F4-61ED-709D-576DE1C7D378}"/>
              </a:ext>
            </a:extLst>
          </p:cNvPr>
          <p:cNvSpPr>
            <a:spLocks noGrp="1"/>
          </p:cNvSpPr>
          <p:nvPr>
            <p:ph type="title"/>
          </p:nvPr>
        </p:nvSpPr>
        <p:spPr/>
        <p:txBody>
          <a:bodyPr/>
          <a:lstStyle/>
          <a:p>
            <a:r>
              <a:rPr lang="en-US" u="sng" dirty="0"/>
              <a:t>3</a:t>
            </a:r>
          </a:p>
        </p:txBody>
      </p:sp>
      <p:sp>
        <p:nvSpPr>
          <p:cNvPr id="6" name="Rectangle 2">
            <a:extLst>
              <a:ext uri="{FF2B5EF4-FFF2-40B4-BE49-F238E27FC236}">
                <a16:creationId xmlns:a16="http://schemas.microsoft.com/office/drawing/2014/main" id="{3E3526EF-04F4-BBD7-E38D-21AE6864C706}"/>
              </a:ext>
            </a:extLst>
          </p:cNvPr>
          <p:cNvSpPr>
            <a:spLocks noGrp="1" noChangeArrowheads="1"/>
          </p:cNvSpPr>
          <p:nvPr>
            <p:ph sz="half" idx="1"/>
          </p:nvPr>
        </p:nvSpPr>
        <p:spPr bwMode="auto">
          <a:xfrm>
            <a:off x="1484312" y="3824604"/>
            <a:ext cx="4753202"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err="1">
                <a:ln>
                  <a:noFill/>
                </a:ln>
                <a:solidFill>
                  <a:schemeClr val="tx1"/>
                </a:solidFill>
                <a:effectLst/>
                <a:latin typeface="Arial Unicode MS"/>
              </a:rPr>
              <a:t>dart:io</a:t>
            </a:r>
            <a:r>
              <a:rPr kumimoji="0" lang="en-US" altLang="en-US" sz="2000" b="0" i="0" u="none" strike="noStrike" cap="none" normalizeH="0" baseline="0" dirty="0">
                <a:ln>
                  <a:noFill/>
                </a:ln>
                <a:solidFill>
                  <a:schemeClr val="tx1"/>
                </a:solidFill>
                <a:effectLst/>
              </a:rPr>
              <a:t> library in Dart is all about managing input and output operations</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7" name="Rectangle 3">
            <a:extLst>
              <a:ext uri="{FF2B5EF4-FFF2-40B4-BE49-F238E27FC236}">
                <a16:creationId xmlns:a16="http://schemas.microsoft.com/office/drawing/2014/main" id="{D6286255-04D3-F08B-0D12-EFBCC11CA2DC}"/>
              </a:ext>
            </a:extLst>
          </p:cNvPr>
          <p:cNvSpPr>
            <a:spLocks noGrp="1" noChangeArrowheads="1"/>
          </p:cNvSpPr>
          <p:nvPr>
            <p:ph sz="half" idx="2"/>
          </p:nvPr>
        </p:nvSpPr>
        <p:spPr bwMode="auto">
          <a:xfrm rot="10800000" flipV="1">
            <a:off x="6096001" y="2807403"/>
            <a:ext cx="4753202"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err="1">
                <a:ln>
                  <a:noFill/>
                </a:ln>
                <a:solidFill>
                  <a:schemeClr val="tx1"/>
                </a:solidFill>
                <a:effectLst/>
                <a:latin typeface="Arial Unicode MS"/>
              </a:rPr>
              <a:t>dart:io</a:t>
            </a:r>
            <a:r>
              <a:rPr kumimoji="0" lang="en-US" altLang="en-US" sz="2000" b="0" i="0" u="none" strike="noStrike" cap="none" normalizeH="0" baseline="0" dirty="0">
                <a:ln>
                  <a:noFill/>
                </a:ln>
                <a:solidFill>
                  <a:schemeClr val="tx1"/>
                </a:solidFill>
                <a:effectLst/>
              </a:rPr>
              <a:t> library in Dart helps your program interact with the outside world, such as reading and writing files, making network requests, and communicating over sockets. It's like giving your application the ability to talk to other programs, access files on your computer, and use the internet.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78240811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8920F-EAF2-928B-B12F-473EB1B570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2263DC-4577-E3E2-1DCF-C6D46C8DDFDB}"/>
              </a:ext>
            </a:extLst>
          </p:cNvPr>
          <p:cNvSpPr>
            <a:spLocks noGrp="1"/>
          </p:cNvSpPr>
          <p:nvPr>
            <p:ph type="title"/>
          </p:nvPr>
        </p:nvSpPr>
        <p:spPr/>
        <p:txBody>
          <a:bodyPr/>
          <a:lstStyle/>
          <a:p>
            <a:r>
              <a:rPr lang="en-US" u="sng" dirty="0"/>
              <a:t>4</a:t>
            </a:r>
          </a:p>
        </p:txBody>
      </p:sp>
      <p:sp>
        <p:nvSpPr>
          <p:cNvPr id="7" name="Rectangle 3">
            <a:extLst>
              <a:ext uri="{FF2B5EF4-FFF2-40B4-BE49-F238E27FC236}">
                <a16:creationId xmlns:a16="http://schemas.microsoft.com/office/drawing/2014/main" id="{BECBA1C0-2B14-A3F2-9FE9-CC4F7560CE1A}"/>
              </a:ext>
            </a:extLst>
          </p:cNvPr>
          <p:cNvSpPr>
            <a:spLocks noGrp="1" noChangeArrowheads="1"/>
          </p:cNvSpPr>
          <p:nvPr>
            <p:ph sz="half" idx="2"/>
          </p:nvPr>
        </p:nvSpPr>
        <p:spPr bwMode="auto">
          <a:xfrm rot="10800000" flipV="1">
            <a:off x="6096001" y="3884619"/>
            <a:ext cx="4753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3" name="Rectangle 1">
            <a:extLst>
              <a:ext uri="{FF2B5EF4-FFF2-40B4-BE49-F238E27FC236}">
                <a16:creationId xmlns:a16="http://schemas.microsoft.com/office/drawing/2014/main" id="{E0269D26-5862-43FC-4870-F60FF20370E7}"/>
              </a:ext>
            </a:extLst>
          </p:cNvPr>
          <p:cNvSpPr>
            <a:spLocks noGrp="1" noChangeArrowheads="1"/>
          </p:cNvSpPr>
          <p:nvPr>
            <p:ph sz="half" idx="1"/>
          </p:nvPr>
        </p:nvSpPr>
        <p:spPr bwMode="auto">
          <a:xfrm>
            <a:off x="1484313" y="3768086"/>
            <a:ext cx="4611687"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err="1">
                <a:ln>
                  <a:noFill/>
                </a:ln>
                <a:solidFill>
                  <a:schemeClr val="tx1"/>
                </a:solidFill>
                <a:effectLst/>
                <a:latin typeface="Arial Unicode MS"/>
              </a:rPr>
              <a:t>dart:convert</a:t>
            </a:r>
            <a:r>
              <a:rPr kumimoji="0" lang="en-US" altLang="en-US" sz="2000" b="0" i="0" u="none" strike="noStrike" cap="none" normalizeH="0" baseline="0" dirty="0">
                <a:ln>
                  <a:noFill/>
                </a:ln>
                <a:solidFill>
                  <a:schemeClr val="tx1"/>
                </a:solidFill>
                <a:effectLst/>
              </a:rPr>
              <a:t> library in Dart is used for encoding and decoding various data formats, particularly JSON and UTF-8.</a:t>
            </a:r>
            <a:r>
              <a:rPr kumimoji="0" lang="en-US" altLang="en-US" sz="8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AB363A23-288F-0D20-028F-E5B45F5464DD}"/>
              </a:ext>
            </a:extLst>
          </p:cNvPr>
          <p:cNvSpPr>
            <a:spLocks noChangeArrowheads="1"/>
          </p:cNvSpPr>
          <p:nvPr/>
        </p:nvSpPr>
        <p:spPr bwMode="auto">
          <a:xfrm rot="10800000" flipV="1">
            <a:off x="6270170" y="3515474"/>
            <a:ext cx="5921829" cy="13234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err="1">
                <a:ln>
                  <a:noFill/>
                </a:ln>
                <a:solidFill>
                  <a:schemeClr val="tx1"/>
                </a:solidFill>
                <a:effectLst/>
                <a:latin typeface="Arial Unicode MS"/>
              </a:rPr>
              <a:t>dart:convert</a:t>
            </a:r>
            <a:r>
              <a:rPr kumimoji="0" lang="en-US" altLang="en-US" sz="2000" b="0" i="0" u="none" strike="noStrike" cap="none" normalizeH="0" baseline="0" dirty="0">
                <a:ln>
                  <a:noFill/>
                </a:ln>
                <a:solidFill>
                  <a:schemeClr val="tx1"/>
                </a:solidFill>
                <a:effectLst/>
              </a:rPr>
              <a:t> library in Dart is used for converting between different data formats. Specifically, it handles JSON and UTF-8 conversions, which are essential for working with web services and handling text data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0382757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D1F2A-7F2A-2AF8-3406-3AFB47ED76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392CDA-A78A-89A8-88EA-727C1B7397D2}"/>
              </a:ext>
            </a:extLst>
          </p:cNvPr>
          <p:cNvSpPr>
            <a:spLocks noGrp="1"/>
          </p:cNvSpPr>
          <p:nvPr>
            <p:ph type="title"/>
          </p:nvPr>
        </p:nvSpPr>
        <p:spPr/>
        <p:txBody>
          <a:bodyPr/>
          <a:lstStyle/>
          <a:p>
            <a:r>
              <a:rPr lang="en-US" u="sng" dirty="0"/>
              <a:t>5</a:t>
            </a:r>
          </a:p>
        </p:txBody>
      </p:sp>
      <p:sp>
        <p:nvSpPr>
          <p:cNvPr id="7" name="Rectangle 3">
            <a:extLst>
              <a:ext uri="{FF2B5EF4-FFF2-40B4-BE49-F238E27FC236}">
                <a16:creationId xmlns:a16="http://schemas.microsoft.com/office/drawing/2014/main" id="{21766C5D-1BDF-8753-B85F-B5CC9203176D}"/>
              </a:ext>
            </a:extLst>
          </p:cNvPr>
          <p:cNvSpPr>
            <a:spLocks noGrp="1" noChangeArrowheads="1"/>
          </p:cNvSpPr>
          <p:nvPr>
            <p:ph sz="half" idx="2"/>
          </p:nvPr>
        </p:nvSpPr>
        <p:spPr bwMode="auto">
          <a:xfrm rot="10800000" flipV="1">
            <a:off x="6096001" y="3884619"/>
            <a:ext cx="4753202"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rPr>
              <a:t>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5" name="Rectangle 3">
            <a:extLst>
              <a:ext uri="{FF2B5EF4-FFF2-40B4-BE49-F238E27FC236}">
                <a16:creationId xmlns:a16="http://schemas.microsoft.com/office/drawing/2014/main" id="{62F0E62E-605E-C619-C88B-C7110A475E1D}"/>
              </a:ext>
            </a:extLst>
          </p:cNvPr>
          <p:cNvSpPr>
            <a:spLocks noChangeArrowheads="1"/>
          </p:cNvSpPr>
          <p:nvPr/>
        </p:nvSpPr>
        <p:spPr bwMode="auto">
          <a:xfrm rot="10800000" flipV="1">
            <a:off x="6270170" y="3669362"/>
            <a:ext cx="5921829"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sz="2000" dirty="0"/>
              <a:t>It simplifies performing mathematical calculations, including basic arithmetic, trigonometry, logarithms, and random number generation.</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4414FEAC-F898-9DF8-7859-641C289E8823}"/>
              </a:ext>
            </a:extLst>
          </p:cNvPr>
          <p:cNvSpPr>
            <a:spLocks noGrp="1" noChangeArrowheads="1"/>
          </p:cNvSpPr>
          <p:nvPr>
            <p:ph sz="half" idx="1"/>
          </p:nvPr>
        </p:nvSpPr>
        <p:spPr bwMode="auto">
          <a:xfrm>
            <a:off x="1484313" y="3190841"/>
            <a:ext cx="4611687"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0" i="0" u="none" strike="noStrike" cap="none" normalizeH="0" baseline="0" dirty="0">
                <a:ln>
                  <a:noFill/>
                </a:ln>
                <a:solidFill>
                  <a:schemeClr val="tx1"/>
                </a:solidFill>
                <a:effectLst/>
                <a:latin typeface="Arial" panose="020B0604020202020204" pitchFamily="34" charset="0"/>
              </a:rPr>
              <a:t>The </a:t>
            </a:r>
            <a:r>
              <a:rPr kumimoji="0" lang="en-US" altLang="en-US" sz="2000" b="0" i="0" u="none" strike="noStrike" cap="none" normalizeH="0" baseline="0" dirty="0" err="1">
                <a:ln>
                  <a:noFill/>
                </a:ln>
                <a:solidFill>
                  <a:schemeClr val="tx1"/>
                </a:solidFill>
                <a:effectLst/>
                <a:latin typeface="Arial Unicode MS"/>
              </a:rPr>
              <a:t>dart:math</a:t>
            </a:r>
            <a:r>
              <a:rPr kumimoji="0" lang="en-US" altLang="en-US" sz="2000" b="0" i="0" u="none" strike="noStrike" cap="none" normalizeH="0" baseline="0" dirty="0">
                <a:ln>
                  <a:noFill/>
                </a:ln>
                <a:solidFill>
                  <a:schemeClr val="tx1"/>
                </a:solidFill>
                <a:effectLst/>
              </a:rPr>
              <a:t> library in Dart provides a wide range of mathematical functions and constants. It's used for performing mathematical calculations, such as trigonometry, logarithms, and random number generation </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515197038"/>
      </p:ext>
    </p:extLst>
  </p:cSld>
  <p:clrMapOvr>
    <a:masterClrMapping/>
  </p:clrMapOvr>
  <p:transition spd="slow">
    <p:wipe/>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Parallax">
      <a:dk1>
        <a:sysClr val="windowText" lastClr="000000"/>
      </a:dk1>
      <a:lt1>
        <a:sysClr val="window" lastClr="FFFFFF"/>
      </a:lt1>
      <a:dk2>
        <a:srgbClr val="212121"/>
      </a:dk2>
      <a:lt2>
        <a:srgbClr val="CDD0D1"/>
      </a:lt2>
      <a:accent1>
        <a:srgbClr val="30ACEC"/>
      </a:accent1>
      <a:accent2>
        <a:srgbClr val="80C34F"/>
      </a:accent2>
      <a:accent3>
        <a:srgbClr val="E29D3E"/>
      </a:accent3>
      <a:accent4>
        <a:srgbClr val="D64A3B"/>
      </a:accent4>
      <a:accent5>
        <a:srgbClr val="D64787"/>
      </a:accent5>
      <a:accent6>
        <a:srgbClr val="A666E1"/>
      </a:accent6>
      <a:hlink>
        <a:srgbClr val="3085ED"/>
      </a:hlink>
      <a:folHlink>
        <a:srgbClr val="82B6F4"/>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docProps/app.xml><?xml version="1.0" encoding="utf-8"?>
<Properties xmlns="http://schemas.openxmlformats.org/officeDocument/2006/extended-properties" xmlns:vt="http://schemas.openxmlformats.org/officeDocument/2006/docPropsVTypes">
  <Template>TM03457496[[fn=Parallax]]</Template>
  <TotalTime>65</TotalTime>
  <Words>376</Words>
  <Application>Microsoft Office PowerPoint</Application>
  <PresentationFormat>Widescreen</PresentationFormat>
  <Paragraphs>25</Paragraphs>
  <Slides>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Arial Unicode MS</vt:lpstr>
      <vt:lpstr>Corbel</vt:lpstr>
      <vt:lpstr>Parallax</vt:lpstr>
      <vt:lpstr>Exproling builtin libraries</vt:lpstr>
      <vt:lpstr>GROUP3</vt:lpstr>
      <vt:lpstr>Exproling builtin libraries 1</vt:lpstr>
      <vt:lpstr>2</vt:lpstr>
      <vt:lpstr>3</vt:lpstr>
      <vt:lpstr>4</vt:lpstr>
      <vt:lpstr>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umukunzi esther</dc:creator>
  <cp:lastModifiedBy>umukunzi esther</cp:lastModifiedBy>
  <cp:revision>1</cp:revision>
  <dcterms:created xsi:type="dcterms:W3CDTF">2025-01-13T05:25:40Z</dcterms:created>
  <dcterms:modified xsi:type="dcterms:W3CDTF">2025-01-13T06:31:32Z</dcterms:modified>
</cp:coreProperties>
</file>